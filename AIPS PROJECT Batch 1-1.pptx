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  <p:sldMasterId id="2147483674" r:id="rId3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7772400" cy="10058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384" y="7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398963" y="0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12" name="Google Shape;212;p1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22" name="Google Shape;222;p2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0" name="Google Shape;2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40" name="Google Shape;240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49" name="Google Shape;249;p5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6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58" name="Google Shape;258;p6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67" name="Google Shape;267;p7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:notes"/>
          <p:cNvSpPr txBox="1"/>
          <p:nvPr/>
        </p:nvSpPr>
        <p:spPr>
          <a:xfrm>
            <a:off x="4398962" y="9555162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"/>
            <a:headEnd type="none" w="sm" len="sm"/>
            <a:tailEnd type="none" w="sm" len="sm"/>
          </a:ln>
        </p:spPr>
      </p:sp>
      <p:sp>
        <p:nvSpPr>
          <p:cNvPr id="276" name="Google Shape;276;p8:notes"/>
          <p:cNvSpPr txBox="1">
            <a:spLocks noGrp="1"/>
          </p:cNvSpPr>
          <p:nvPr>
            <p:ph type="body" idx="1"/>
          </p:nvPr>
        </p:nvSpPr>
        <p:spPr>
          <a:xfrm>
            <a:off x="777875" y="4776787"/>
            <a:ext cx="6218237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665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4" name="Google Shape;2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2425" cy="37703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:notes"/>
          <p:cNvSpPr txBox="1">
            <a:spLocks noGrp="1"/>
          </p:cNvSpPr>
          <p:nvPr>
            <p:ph type="sldNum" idx="12"/>
          </p:nvPr>
        </p:nvSpPr>
        <p:spPr>
          <a:xfrm>
            <a:off x="4398963" y="9555163"/>
            <a:ext cx="337185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94" name="Google Shape;294;p1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3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3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2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body" idx="1"/>
          </p:nvPr>
        </p:nvSpPr>
        <p:spPr>
          <a:xfrm>
            <a:off x="609601" y="1604963"/>
            <a:ext cx="5382684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body" idx="2"/>
          </p:nvPr>
        </p:nvSpPr>
        <p:spPr>
          <a:xfrm>
            <a:off x="6195484" y="1604963"/>
            <a:ext cx="5384800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7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1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1"/>
          <p:cNvSpPr txBox="1">
            <a:spLocks noGrp="1"/>
          </p:cNvSpPr>
          <p:nvPr>
            <p:ph type="body" idx="1"/>
          </p:nvPr>
        </p:nvSpPr>
        <p:spPr>
          <a:xfrm rot="5400000">
            <a:off x="4107657" y="-1893094"/>
            <a:ext cx="3975100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2"/>
          <p:cNvSpPr txBox="1">
            <a:spLocks noGrp="1"/>
          </p:cNvSpPr>
          <p:nvPr>
            <p:ph type="title"/>
          </p:nvPr>
        </p:nvSpPr>
        <p:spPr>
          <a:xfrm rot="5400000">
            <a:off x="8222193" y="2221971"/>
            <a:ext cx="3975100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2"/>
          <p:cNvSpPr txBox="1">
            <a:spLocks noGrp="1"/>
          </p:cNvSpPr>
          <p:nvPr>
            <p:ph type="body" idx="1"/>
          </p:nvPr>
        </p:nvSpPr>
        <p:spPr>
          <a:xfrm rot="5400000">
            <a:off x="2635250" y="-420687"/>
            <a:ext cx="3975100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3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3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96" name="Google Shape;96;p3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3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5"/>
          <p:cNvSpPr txBox="1">
            <a:spLocks noGrp="1"/>
          </p:cNvSpPr>
          <p:nvPr>
            <p:ph type="body" idx="1"/>
          </p:nvPr>
        </p:nvSpPr>
        <p:spPr>
          <a:xfrm>
            <a:off x="609601" y="1600201"/>
            <a:ext cx="5382684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1" name="Google Shape;101;p35"/>
          <p:cNvSpPr txBox="1">
            <a:spLocks noGrp="1"/>
          </p:cNvSpPr>
          <p:nvPr>
            <p:ph type="body" idx="2"/>
          </p:nvPr>
        </p:nvSpPr>
        <p:spPr>
          <a:xfrm>
            <a:off x="6195484" y="1600201"/>
            <a:ext cx="5384800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2" name="Google Shape;102;p3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3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7" name="Google Shape;107;p3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08" name="Google Shape;108;p3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9" name="Google Shape;109;p3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10" name="Google Shape;110;p3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3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3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3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3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122" name="Google Shape;122;p3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3" name="Google Shape;123;p3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3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4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4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9" name="Google Shape;129;p4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4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9"/>
            <a:ext cx="4524375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4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4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2"/>
          <p:cNvSpPr txBox="1">
            <a:spLocks noGrp="1"/>
          </p:cNvSpPr>
          <p:nvPr>
            <p:ph type="title"/>
          </p:nvPr>
        </p:nvSpPr>
        <p:spPr>
          <a:xfrm rot="5400000">
            <a:off x="7284774" y="1829066"/>
            <a:ext cx="5849937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42"/>
          <p:cNvSpPr txBox="1">
            <a:spLocks noGrp="1"/>
          </p:cNvSpPr>
          <p:nvPr>
            <p:ph type="body" idx="1"/>
          </p:nvPr>
        </p:nvSpPr>
        <p:spPr>
          <a:xfrm rot="5400000">
            <a:off x="1697831" y="-813592"/>
            <a:ext cx="5849937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4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4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3"/>
          <p:cNvSpPr txBox="1"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4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4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2" cy="363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1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4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44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lvl="0" algn="ctr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None/>
              <a:defRPr/>
            </a:lvl2pPr>
            <a:lvl3pPr lvl="2" algn="ctr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44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44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4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None/>
              <a:defRPr sz="18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400"/>
              <a:buNone/>
              <a:defRPr sz="14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67" name="Google Shape;167;p4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4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6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46"/>
          <p:cNvSpPr txBox="1">
            <a:spLocks noGrp="1"/>
          </p:cNvSpPr>
          <p:nvPr>
            <p:ph type="body" idx="1"/>
          </p:nvPr>
        </p:nvSpPr>
        <p:spPr>
          <a:xfrm>
            <a:off x="609601" y="1604963"/>
            <a:ext cx="5382684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2" name="Google Shape;172;p46"/>
          <p:cNvSpPr txBox="1">
            <a:spLocks noGrp="1"/>
          </p:cNvSpPr>
          <p:nvPr>
            <p:ph type="body" idx="2"/>
          </p:nvPr>
        </p:nvSpPr>
        <p:spPr>
          <a:xfrm>
            <a:off x="6195484" y="1604963"/>
            <a:ext cx="5384800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064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400"/>
              <a:buChar char="–"/>
              <a:defRPr sz="2400"/>
            </a:lvl2pPr>
            <a:lvl3pPr marL="1371600" lvl="2" indent="-355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3" name="Google Shape;173;p46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46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4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8" name="Google Shape;178;p4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79" name="Google Shape;179;p4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0" name="Google Shape;180;p4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810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000"/>
              <a:buChar char="–"/>
              <a:defRPr sz="2000"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81" name="Google Shape;181;p4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4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8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4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4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4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4318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2800"/>
              <a:buChar char="–"/>
              <a:defRPr sz="2800"/>
            </a:lvl2pPr>
            <a:lvl3pPr marL="1371600" lvl="2" indent="-3810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2000"/>
              <a:buChar char="–"/>
              <a:defRPr sz="2000"/>
            </a:lvl4pPr>
            <a:lvl5pPr marL="2286000" lvl="4" indent="-355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2000"/>
              <a:buChar char="»"/>
              <a:defRPr sz="20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190" name="Google Shape;190;p4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91" name="Google Shape;191;p4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4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5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5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97" name="Google Shape;197;p50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50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1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51"/>
          <p:cNvSpPr txBox="1">
            <a:spLocks noGrp="1"/>
          </p:cNvSpPr>
          <p:nvPr>
            <p:ph type="body" idx="1"/>
          </p:nvPr>
        </p:nvSpPr>
        <p:spPr>
          <a:xfrm rot="5400000">
            <a:off x="4107657" y="-1893094"/>
            <a:ext cx="3975100" cy="10971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51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51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2"/>
          <p:cNvSpPr txBox="1">
            <a:spLocks noGrp="1"/>
          </p:cNvSpPr>
          <p:nvPr>
            <p:ph type="title"/>
          </p:nvPr>
        </p:nvSpPr>
        <p:spPr>
          <a:xfrm rot="5400000">
            <a:off x="7556236" y="1556015"/>
            <a:ext cx="5307013" cy="274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52"/>
          <p:cNvSpPr txBox="1">
            <a:spLocks noGrp="1"/>
          </p:cNvSpPr>
          <p:nvPr>
            <p:ph type="body" idx="1"/>
          </p:nvPr>
        </p:nvSpPr>
        <p:spPr>
          <a:xfrm rot="5400000">
            <a:off x="1969294" y="-1086643"/>
            <a:ext cx="530701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lvl="0" indent="-342900" algn="l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52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5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1613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5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5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17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9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9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0" name="Google Shape;150;p19"/>
          <p:cNvSpPr txBox="1">
            <a:spLocks noGrp="1"/>
          </p:cNvSpPr>
          <p:nvPr>
            <p:ph type="body" idx="1"/>
          </p:nvPr>
        </p:nvSpPr>
        <p:spPr>
          <a:xfrm>
            <a:off x="609600" y="1604963"/>
            <a:ext cx="10971213" cy="39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075" rIns="0" bIns="0" anchor="t" anchorCtr="0">
            <a:noAutofit/>
          </a:bodyPr>
          <a:lstStyle>
            <a:lvl1pPr marL="457200" marR="0" lvl="0" indent="-431800" algn="l" rtl="0">
              <a:lnSpc>
                <a:spcPct val="83000"/>
              </a:lnSpc>
              <a:spcBef>
                <a:spcPts val="1425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83000"/>
              </a:lnSpc>
              <a:spcBef>
                <a:spcPts val="114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8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83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83000"/>
              </a:lnSpc>
              <a:spcBef>
                <a:spcPts val="29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"/>
          <p:cNvSpPr txBox="1">
            <a:spLocks noGrp="1"/>
          </p:cNvSpPr>
          <p:nvPr>
            <p:ph type="subTitle" idx="4294967295"/>
          </p:nvPr>
        </p:nvSpPr>
        <p:spPr>
          <a:xfrm>
            <a:off x="7848869" y="3699802"/>
            <a:ext cx="2966616" cy="188126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1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GUIDED BY 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7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Ms. ADEEBA AAISHA F </a:t>
            </a:r>
            <a:endParaRPr sz="1800" b="1" i="0" u="none" strike="noStrike" cap="none" dirty="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70000"/>
              </a:lnSpc>
              <a:spcBef>
                <a:spcPts val="36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lang="en-US" sz="18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</a:t>
            </a:r>
            <a:r>
              <a:rPr lang="en-US" sz="1800" b="1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 /</a:t>
            </a:r>
            <a:r>
              <a:rPr lang="en-US" sz="18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AIDS                     </a:t>
            </a:r>
            <a:r>
              <a:rPr lang="en-US" sz="1800" b="1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										</a:t>
            </a:r>
            <a:endParaRPr sz="3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"/>
          <p:cNvSpPr/>
          <p:nvPr/>
        </p:nvSpPr>
        <p:spPr>
          <a:xfrm>
            <a:off x="1679575" y="-1684337"/>
            <a:ext cx="3543300" cy="3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"/>
          <p:cNvSpPr/>
          <p:nvPr/>
        </p:nvSpPr>
        <p:spPr>
          <a:xfrm>
            <a:off x="962526" y="593117"/>
            <a:ext cx="9994232" cy="27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K.RAMAKRISHNAN COLLEGE OF TECHNOLOGY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(AUTONOMOUS), TRICHY</a:t>
            </a:r>
            <a:br>
              <a:rPr lang="en-US" sz="2000" b="1" i="0" u="none" strike="noStrike" cap="none" dirty="0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sz="2000" b="1" i="0" u="none" strike="noStrike" cap="none" dirty="0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endParaRPr sz="2000" b="1" i="0" u="none" strike="noStrike" cap="none" dirty="0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lnSpc>
                <a:spcPct val="150000"/>
              </a:lnSpc>
              <a:buSzPts val="3200"/>
            </a:pPr>
            <a:r>
              <a:rPr lang="en-US" sz="27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Edge-Optimized Multimodal System for Regional Code-Mixed Speech Emotion and Speaker Recognition</a:t>
            </a:r>
            <a:endParaRPr sz="2700" b="1" i="0" u="none" strike="noStrike" cap="none" dirty="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3" name="Google Shape;303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053C89-0ADF-78A6-75C6-C0A8EEA205D1}"/>
              </a:ext>
            </a:extLst>
          </p:cNvPr>
          <p:cNvSpPr txBox="1"/>
          <p:nvPr/>
        </p:nvSpPr>
        <p:spPr>
          <a:xfrm>
            <a:off x="1365250" y="4031226"/>
            <a:ext cx="4593098" cy="1981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ABETHA M K           - 2403811724322001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ACHUTHAN G K R - 2403811724321002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ADARSHINI M         - 2403811724322003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HARIHARAN R      - 2403811724321028</a:t>
            </a:r>
            <a:endParaRPr lang="en-I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"/>
          <p:cNvSpPr txBox="1"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OVERVIEW</a:t>
            </a:r>
            <a:endParaRPr sz="30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"/>
          <p:cNvSpPr txBox="1"/>
          <p:nvPr/>
        </p:nvSpPr>
        <p:spPr>
          <a:xfrm>
            <a:off x="985548" y="1556792"/>
            <a:ext cx="10520363" cy="4751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just" rtl="0">
              <a:lnSpc>
                <a:spcPct val="200000"/>
              </a:lnSpc>
              <a:spcBef>
                <a:spcPts val="325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Abstract </a:t>
            </a:r>
            <a:endParaRPr sz="20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Objective </a:t>
            </a:r>
            <a:endParaRPr sz="20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 Architecture diagram </a:t>
            </a:r>
            <a:endParaRPr sz="20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 Existing system </a:t>
            </a:r>
            <a:endParaRPr sz="20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 Proposed system </a:t>
            </a:r>
            <a:endParaRPr sz="20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 Conclusion </a:t>
            </a:r>
            <a:endParaRPr sz="20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2000" b="1">
                <a:latin typeface="Times New Roman"/>
                <a:ea typeface="Times New Roman"/>
                <a:cs typeface="Times New Roman"/>
                <a:sym typeface="Times New Roman"/>
              </a:rPr>
              <a:t> Future enhancement</a:t>
            </a:r>
            <a:endParaRPr sz="20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39395" algn="just" rtl="0">
              <a:lnSpc>
                <a:spcPct val="20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endParaRPr sz="1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6" name="Google Shape;22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8B8B8B"/>
                </a:solidFill>
                <a:latin typeface="Arial"/>
                <a:ea typeface="Arial"/>
                <a:cs typeface="Arial"/>
                <a:sym typeface="Arial"/>
              </a:rPr>
              <a:t>2/7/20</a:t>
            </a:r>
            <a:endParaRPr sz="1200" b="0" i="0" u="none" strike="noStrike" cap="none">
              <a:solidFill>
                <a:srgbClr val="8B8B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"/>
          <p:cNvSpPr txBox="1">
            <a:spLocks noGrp="1"/>
          </p:cNvSpPr>
          <p:nvPr>
            <p:ph type="title"/>
          </p:nvPr>
        </p:nvSpPr>
        <p:spPr>
          <a:xfrm>
            <a:off x="2159000" y="304800"/>
            <a:ext cx="760888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</a:t>
            </a:r>
            <a:endParaRPr sz="3200" b="1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4" name="Google Shape;23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"/>
          <p:cNvSpPr txBox="1"/>
          <p:nvPr/>
        </p:nvSpPr>
        <p:spPr>
          <a:xfrm>
            <a:off x="2413001" y="1843971"/>
            <a:ext cx="9847825" cy="317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system for speaker and emotion recognition.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regional code-mixed speech such as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Tanglish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audio and text using multimodal processing.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real-time edge deployment with low computation.</a:t>
            </a:r>
          </a:p>
          <a:p>
            <a:pPr marL="45720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"/>
          <p:cNvSpPr txBox="1">
            <a:spLocks noGrp="1"/>
          </p:cNvSpPr>
          <p:nvPr>
            <p:ph type="title"/>
          </p:nvPr>
        </p:nvSpPr>
        <p:spPr>
          <a:xfrm>
            <a:off x="1981200" y="31481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</a:t>
            </a:r>
            <a:endParaRPr sz="3200" b="1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3" name="Google Shape;24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54485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98935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4"/>
          <p:cNvSpPr txBox="1"/>
          <p:nvPr/>
        </p:nvSpPr>
        <p:spPr>
          <a:xfrm>
            <a:off x="2351584" y="1844824"/>
            <a:ext cx="7704900" cy="3200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speaker from voice characteristics.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the speaker's emotional state.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regional code-mixed speech.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fast and privacy-preserving edge processing.</a:t>
            </a:r>
          </a:p>
          <a:p>
            <a:pPr marL="4572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"/>
          <p:cNvSpPr/>
          <p:nvPr/>
        </p:nvSpPr>
        <p:spPr>
          <a:xfrm>
            <a:off x="2714200" y="447375"/>
            <a:ext cx="6934200" cy="10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3200" b="1" i="0" u="none" strike="noStrike" cap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-US" sz="2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DIAGRAM</a:t>
            </a:r>
            <a:r>
              <a:rPr lang="en-US" sz="28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200" b="1" i="0" u="none" strike="noStrike" cap="none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2" name="Google Shape;25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6625" y="1459600"/>
            <a:ext cx="4823826" cy="503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67B51C5-4A07-E385-820C-D0901B679EE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2179" b="7958"/>
          <a:stretch>
            <a:fillRect/>
          </a:stretch>
        </p:blipFill>
        <p:spPr>
          <a:xfrm>
            <a:off x="952500" y="1378500"/>
            <a:ext cx="10287000" cy="50321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6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  <a:endParaRPr/>
          </a:p>
        </p:txBody>
      </p:sp>
      <p:pic>
        <p:nvPicPr>
          <p:cNvPr id="261" name="Google Shape;26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6"/>
          <p:cNvSpPr txBox="1"/>
          <p:nvPr/>
        </p:nvSpPr>
        <p:spPr>
          <a:xfrm>
            <a:off x="2365225" y="1843971"/>
            <a:ext cx="9125100" cy="317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Mostly supports monolingual speech.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systems use heavy deep learning models.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processing causes latency and dependency.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Speaker and emotion recognition are often separate tasks.</a:t>
            </a:r>
          </a:p>
          <a:p>
            <a:pPr marL="45720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 sz="3200" b="1">
              <a:solidFill>
                <a:srgbClr val="FF00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0" name="Google Shape;27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3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3" y="258763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7"/>
          <p:cNvSpPr txBox="1"/>
          <p:nvPr/>
        </p:nvSpPr>
        <p:spPr>
          <a:xfrm>
            <a:off x="1614155" y="1379618"/>
            <a:ext cx="9604451" cy="5478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Edge-AI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Combines audio features and speech-text information for better recognition.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Models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Uses MobileNetV3 for speaker/vocal features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MobileBERT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code-mixed emotional context.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Gated Fusion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Intelligently combines both modalities to improve emotion and speaker prediction.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&amp; Private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Uses ONNX Runtime for low-latency processing directly on local/edge devices without cloud dependency. </a:t>
            </a: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1097121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3200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  <a:endParaRPr sz="4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9" name="Google Shape;27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2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2" y="258762"/>
            <a:ext cx="1154112" cy="1103312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8"/>
          <p:cNvSpPr txBox="1"/>
          <p:nvPr/>
        </p:nvSpPr>
        <p:spPr>
          <a:xfrm>
            <a:off x="2063550" y="1727025"/>
            <a:ext cx="8272800" cy="317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speaker and emotion recognition in one system.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processing improves speech understanding.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models support edge deployment. 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processing improves privacy and response speed.</a:t>
            </a:r>
          </a:p>
          <a:p>
            <a:pPr marL="45720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1213" cy="114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</a:t>
            </a:r>
            <a:r>
              <a:rPr lang="en-US" sz="3200" b="1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ENHANCEMENT             </a:t>
            </a:r>
            <a:endParaRPr sz="3200"/>
          </a:p>
        </p:txBody>
      </p:sp>
      <p:sp>
        <p:nvSpPr>
          <p:cNvPr id="287" name="Google Shape;287;p9"/>
          <p:cNvSpPr txBox="1">
            <a:spLocks noGrp="1"/>
          </p:cNvSpPr>
          <p:nvPr>
            <p:ph type="body" idx="1"/>
          </p:nvPr>
        </p:nvSpPr>
        <p:spPr>
          <a:xfrm>
            <a:off x="2031206" y="1624012"/>
            <a:ext cx="10971213" cy="452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more Indian regional languages. </a:t>
            </a:r>
          </a:p>
          <a:p>
            <a:pPr lvl="0"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performance using larger code-mixed datasets. </a:t>
            </a:r>
          </a:p>
          <a:p>
            <a:pPr lvl="0"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multi-speaker detection. </a:t>
            </a:r>
          </a:p>
          <a:p>
            <a:pPr lvl="0"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models further for mobile and embedded devices.</a:t>
            </a:r>
          </a:p>
          <a:p>
            <a:pPr marL="457200" lvl="0" indent="0" algn="just" rtl="0">
              <a:lnSpc>
                <a:spcPct val="150000"/>
              </a:lnSpc>
              <a:spcBef>
                <a:spcPts val="1425"/>
              </a:spcBef>
              <a:spcAft>
                <a:spcPts val="0"/>
              </a:spcAft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9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3213" cy="36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2/7/20</a:t>
            </a:r>
            <a:endParaRPr/>
          </a:p>
        </p:txBody>
      </p:sp>
      <p:pic>
        <p:nvPicPr>
          <p:cNvPr id="289" name="Google Shape;28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1850" y="214312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36212" y="258762"/>
            <a:ext cx="1154112" cy="1103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4"/>
          <p:cNvSpPr txBox="1">
            <a:spLocks noGrp="1"/>
          </p:cNvSpPr>
          <p:nvPr>
            <p:ph type="title"/>
          </p:nvPr>
        </p:nvSpPr>
        <p:spPr>
          <a:xfrm>
            <a:off x="1919536" y="256490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323</Words>
  <Application>Microsoft Office PowerPoint</Application>
  <PresentationFormat>Widescreen</PresentationFormat>
  <Paragraphs>62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Noto Sans Symbols</vt:lpstr>
      <vt:lpstr>Times New Roman</vt:lpstr>
      <vt:lpstr>Office Theme</vt:lpstr>
      <vt:lpstr>1_Office Theme</vt:lpstr>
      <vt:lpstr>2_Office Theme</vt:lpstr>
      <vt:lpstr>PowerPoint Presentation</vt:lpstr>
      <vt:lpstr>PRESENTATION OVERVIEW</vt:lpstr>
      <vt:lpstr>ABSTRACT </vt:lpstr>
      <vt:lpstr>OBJECTIVE </vt:lpstr>
      <vt:lpstr>PowerPoint Presentation</vt:lpstr>
      <vt:lpstr>EXISTING SYSTEM</vt:lpstr>
      <vt:lpstr>PROPOSED SYSTEM</vt:lpstr>
      <vt:lpstr>CONCLUSION </vt:lpstr>
      <vt:lpstr>                     FUTURE ENHANCEMENT            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Adarshini M</dc:creator>
  <cp:lastModifiedBy>Achuthan GKR</cp:lastModifiedBy>
  <cp:revision>3</cp:revision>
  <dcterms:modified xsi:type="dcterms:W3CDTF">2026-10-05T06:47:13Z</dcterms:modified>
</cp:coreProperties>
</file>